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2"/>
    <p:sldId id="273" r:id="rId3"/>
    <p:sldId id="264" r:id="rId4"/>
    <p:sldId id="265" r:id="rId5"/>
    <p:sldId id="266" r:id="rId6"/>
    <p:sldId id="267" r:id="rId7"/>
    <p:sldId id="268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516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B029B-4468-4E14-AA36-456E91C6BC76}" type="datetimeFigureOut">
              <a:rPr lang="fr-FR" smtClean="0"/>
              <a:t>02/12/2025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31F32-E204-4716-B756-92FD620CC9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317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331F32-E204-4716-B756-92FD620CC93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373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8FEA6-3197-4962-8FA0-38355A49036E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9EE9-2AFD-4699-BE0F-DA2E4FA44D9E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FE2D0-B0E5-4B78-9724-2D2525D06CC5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3D1CB-D6D2-4064-A1E1-9619C0D1F678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92E2-FBC4-40D2-AD86-17F3BCC62FD1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89904-C51A-4B3E-AF41-7D81D9A58B22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0B1-5F0F-4E47-A20D-F2EEFE6C01DE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5B03E-33D4-43BE-82B6-9A2C502749AC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0B296-B4D4-4994-88C5-E8549BCAF3F5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906E6-983E-489F-B227-DFE31D20D128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EE4E-C379-4DE3-B9F1-0332E58AC16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B4993-03D6-413B-B94D-59D38679B88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73100" y="13049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2"/>
                </a:solidFill>
              </a:rPr>
              <a:t>Real-Time Maximum Power Point Tracking (MPPT) of a Photovoltaic System Using Perturb &amp; Observe Algorithm</a:t>
            </a:r>
            <a:br>
              <a:rPr lang="en-US" dirty="0">
                <a:solidFill>
                  <a:schemeClr val="tx2"/>
                </a:solidFill>
              </a:rPr>
            </a:b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953000" y="4046000"/>
            <a:ext cx="6400800" cy="1752600"/>
          </a:xfrm>
        </p:spPr>
        <p:txBody>
          <a:bodyPr>
            <a:normAutofit/>
          </a:bodyPr>
          <a:lstStyle/>
          <a:p>
            <a:r>
              <a:rPr lang="fr-FR" dirty="0" err="1" smtClean="0">
                <a:solidFill>
                  <a:schemeClr val="accent1"/>
                </a:solidFill>
              </a:rPr>
              <a:t>Supervised</a:t>
            </a:r>
            <a:r>
              <a:rPr lang="fr-FR" dirty="0" smtClean="0">
                <a:solidFill>
                  <a:schemeClr val="accent1"/>
                </a:solidFill>
              </a:rPr>
              <a:t> </a:t>
            </a:r>
            <a:r>
              <a:rPr lang="fr-FR" dirty="0">
                <a:solidFill>
                  <a:schemeClr val="accent1"/>
                </a:solidFill>
              </a:rPr>
              <a:t>by</a:t>
            </a:r>
          </a:p>
          <a:p>
            <a:r>
              <a:rPr lang="fr-FR" dirty="0" smtClean="0">
                <a:solidFill>
                  <a:schemeClr val="accent1"/>
                </a:solidFill>
              </a:rPr>
              <a:t>Dr </a:t>
            </a:r>
            <a:r>
              <a:rPr lang="fr-FR" dirty="0" err="1" smtClean="0">
                <a:solidFill>
                  <a:schemeClr val="accent1"/>
                </a:solidFill>
              </a:rPr>
              <a:t>Adel</a:t>
            </a:r>
            <a:r>
              <a:rPr lang="fr-FR" dirty="0" smtClean="0">
                <a:solidFill>
                  <a:schemeClr val="accent1"/>
                </a:solidFill>
              </a:rPr>
              <a:t> </a:t>
            </a:r>
            <a:r>
              <a:rPr lang="fr-FR" dirty="0" err="1" smtClean="0">
                <a:solidFill>
                  <a:schemeClr val="accent1"/>
                </a:solidFill>
              </a:rPr>
              <a:t>Khedher</a:t>
            </a:r>
            <a:endParaRPr lang="fr-FR" dirty="0" smtClean="0">
              <a:solidFill>
                <a:schemeClr val="accent1"/>
              </a:solidFill>
            </a:endParaRPr>
          </a:p>
          <a:p>
            <a:endParaRPr lang="fr-FR" dirty="0">
              <a:solidFill>
                <a:schemeClr val="accent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1325" y="720725"/>
            <a:ext cx="211455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-254000" y="4040700"/>
            <a:ext cx="6096000" cy="117570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>
              <a:spcBef>
                <a:spcPct val="20000"/>
              </a:spcBef>
            </a:pPr>
            <a:r>
              <a:rPr lang="fr-FR" sz="3200" dirty="0" err="1">
                <a:solidFill>
                  <a:schemeClr val="accent1"/>
                </a:solidFill>
              </a:rPr>
              <a:t>Presented</a:t>
            </a:r>
            <a:r>
              <a:rPr lang="fr-FR" sz="3200" dirty="0">
                <a:solidFill>
                  <a:schemeClr val="accent1"/>
                </a:solidFill>
              </a:rPr>
              <a:t> by</a:t>
            </a:r>
          </a:p>
          <a:p>
            <a:pPr lvl="0" algn="ctr">
              <a:spcBef>
                <a:spcPct val="20000"/>
              </a:spcBef>
            </a:pPr>
            <a:r>
              <a:rPr lang="fr-FR" sz="3200" dirty="0">
                <a:solidFill>
                  <a:schemeClr val="accent1"/>
                </a:solidFill>
              </a:rPr>
              <a:t>Habib </a:t>
            </a:r>
            <a:r>
              <a:rPr lang="fr-FR" sz="3200" dirty="0" err="1" smtClean="0">
                <a:solidFill>
                  <a:schemeClr val="accent1"/>
                </a:solidFill>
              </a:rPr>
              <a:t>Saadallah</a:t>
            </a:r>
            <a:endParaRPr lang="fr-FR" sz="3200" dirty="0">
              <a:solidFill>
                <a:schemeClr val="accent1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806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119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647700"/>
            <a:ext cx="5410200" cy="1143000"/>
          </a:xfrm>
        </p:spPr>
        <p:txBody>
          <a:bodyPr>
            <a:normAutofit/>
          </a:bodyPr>
          <a:lstStyle/>
          <a:p>
            <a:r>
              <a:rPr lang="fr-FR" sz="5400" dirty="0" smtClean="0">
                <a:solidFill>
                  <a:schemeClr val="tx2"/>
                </a:solidFill>
              </a:rPr>
              <a:t>Table of Content</a:t>
            </a:r>
            <a:endParaRPr lang="fr-FR" sz="5400" dirty="0">
              <a:solidFill>
                <a:schemeClr val="tx2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374900"/>
            <a:ext cx="8229600" cy="2870200"/>
          </a:xfrm>
        </p:spPr>
        <p:txBody>
          <a:bodyPr/>
          <a:lstStyle/>
          <a:p>
            <a:r>
              <a:rPr lang="fr-FR" b="1" dirty="0">
                <a:solidFill>
                  <a:srgbClr val="0D47A1"/>
                </a:solidFill>
              </a:rPr>
              <a:t>Introduction to PV </a:t>
            </a:r>
            <a:r>
              <a:rPr lang="fr-FR" b="1" dirty="0" err="1" smtClean="0">
                <a:solidFill>
                  <a:srgbClr val="0D47A1"/>
                </a:solidFill>
              </a:rPr>
              <a:t>Systems</a:t>
            </a:r>
            <a:endParaRPr lang="fr-FR" b="1" dirty="0" smtClean="0">
              <a:solidFill>
                <a:srgbClr val="0D47A1"/>
              </a:solidFill>
            </a:endParaRPr>
          </a:p>
          <a:p>
            <a:r>
              <a:rPr lang="fr-FR" b="1" dirty="0">
                <a:solidFill>
                  <a:srgbClr val="0D47A1"/>
                </a:solidFill>
              </a:rPr>
              <a:t>Single-Diode PV </a:t>
            </a:r>
            <a:r>
              <a:rPr lang="fr-FR" b="1" dirty="0" smtClean="0">
                <a:solidFill>
                  <a:srgbClr val="0D47A1"/>
                </a:solidFill>
              </a:rPr>
              <a:t>Model</a:t>
            </a:r>
          </a:p>
          <a:p>
            <a:r>
              <a:rPr lang="en-US" b="1" dirty="0">
                <a:solidFill>
                  <a:srgbClr val="0D47A1"/>
                </a:solidFill>
              </a:rPr>
              <a:t>Maximum Power Point </a:t>
            </a:r>
            <a:r>
              <a:rPr lang="en-US" b="1" dirty="0" smtClean="0">
                <a:solidFill>
                  <a:srgbClr val="0D47A1"/>
                </a:solidFill>
              </a:rPr>
              <a:t>Tracking</a:t>
            </a:r>
          </a:p>
          <a:p>
            <a:r>
              <a:rPr lang="fr-FR" b="1" dirty="0" err="1">
                <a:solidFill>
                  <a:srgbClr val="0D47A1"/>
                </a:solidFill>
              </a:rPr>
              <a:t>Results</a:t>
            </a:r>
            <a:r>
              <a:rPr lang="fr-FR" b="1" dirty="0">
                <a:solidFill>
                  <a:srgbClr val="0D47A1"/>
                </a:solidFill>
              </a:rPr>
              <a:t> and </a:t>
            </a:r>
            <a:r>
              <a:rPr lang="fr-FR" b="1" dirty="0" err="1">
                <a:solidFill>
                  <a:srgbClr val="0D47A1"/>
                </a:solidFill>
              </a:rPr>
              <a:t>Analysis</a:t>
            </a:r>
            <a:endParaRPr lang="fr-FR" b="1" dirty="0">
              <a:solidFill>
                <a:srgbClr val="0D47A1"/>
              </a:solidFill>
            </a:endParaRPr>
          </a:p>
          <a:p>
            <a:endParaRPr lang="en-US" b="1" dirty="0">
              <a:solidFill>
                <a:srgbClr val="0D47A1"/>
              </a:solidFill>
            </a:endParaRPr>
          </a:p>
          <a:p>
            <a:endParaRPr lang="fr-FR" b="1" dirty="0">
              <a:solidFill>
                <a:srgbClr val="0D47A1"/>
              </a:solidFill>
            </a:endParaRPr>
          </a:p>
          <a:p>
            <a:endParaRPr lang="fr-FR" b="1" dirty="0">
              <a:solidFill>
                <a:srgbClr val="0D47A1"/>
              </a:solidFill>
            </a:endParaRPr>
          </a:p>
          <a:p>
            <a:endParaRPr lang="fr-F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038" y="381000"/>
            <a:ext cx="21161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906000" y="63595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2243138"/>
            <a:ext cx="4681537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2639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48280"/>
            <a:ext cx="4174604" cy="5416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800" b="1" dirty="0">
                <a:solidFill>
                  <a:srgbClr val="0D47A1"/>
                </a:solidFill>
              </a:rPr>
              <a:t>Introduction to PV Systems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675571"/>
            <a:ext cx="266693" cy="2493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674" y="1611089"/>
            <a:ext cx="2712730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47A1"/>
                </a:solidFill>
              </a:rPr>
              <a:t>Solar Photovoltaic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2140459"/>
            <a:ext cx="5067173" cy="3672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63238"/>
                </a:solidFill>
              </a:rPr>
              <a:t>Convert </a:t>
            </a:r>
            <a:r>
              <a:rPr sz="1400" b="0" dirty="0" smtClean="0">
                <a:solidFill>
                  <a:srgbClr val="263238"/>
                </a:solidFill>
              </a:rPr>
              <a:t>light </a:t>
            </a:r>
            <a:r>
              <a:rPr sz="1400" b="0" dirty="0">
                <a:solidFill>
                  <a:srgbClr val="263238"/>
                </a:solidFill>
              </a:rPr>
              <a:t>directly into electricity through photovoltaic effect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975527"/>
            <a:ext cx="266693" cy="144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2849339"/>
            <a:ext cx="1866408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47A1"/>
                </a:solidFill>
              </a:rPr>
              <a:t>MPPT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674" y="3277887"/>
            <a:ext cx="5067173" cy="60702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63238"/>
                </a:solidFill>
              </a:rPr>
              <a:t> Extracts </a:t>
            </a:r>
            <a:r>
              <a:rPr sz="1400" b="1" dirty="0">
                <a:solidFill>
                  <a:srgbClr val="F57C00"/>
                </a:solidFill>
              </a:rPr>
              <a:t>maximum power</a:t>
            </a:r>
            <a:r>
              <a:rPr sz="1400" b="0" dirty="0">
                <a:solidFill>
                  <a:srgbClr val="263238"/>
                </a:solidFill>
              </a:rPr>
              <a:t> from PV modules under varying conditions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4187065"/>
            <a:ext cx="266693" cy="2174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8674" y="4106638"/>
            <a:ext cx="1568827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47A1"/>
                </a:solidFill>
              </a:rPr>
              <a:t>Key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674" y="4533900"/>
            <a:ext cx="5067173" cy="11430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63238"/>
                </a:solidFill>
              </a:rPr>
              <a:t> • Variable </a:t>
            </a:r>
            <a:r>
              <a:rPr sz="1400" b="1" dirty="0">
                <a:solidFill>
                  <a:srgbClr val="263238"/>
                </a:solidFill>
              </a:rPr>
              <a:t>irradiance</a:t>
            </a:r>
            <a:r>
              <a:rPr sz="1400" dirty="0"/>
              <a:t>
</a:t>
            </a:r>
            <a:r>
              <a:rPr sz="1400" b="0" dirty="0">
                <a:solidFill>
                  <a:srgbClr val="263238"/>
                </a:solidFill>
              </a:rPr>
              <a:t> • </a:t>
            </a:r>
            <a:r>
              <a:rPr sz="1400" b="1" dirty="0">
                <a:solidFill>
                  <a:srgbClr val="263238"/>
                </a:solidFill>
              </a:rPr>
              <a:t>Temperature</a:t>
            </a:r>
            <a:r>
              <a:rPr sz="1400" b="0" dirty="0">
                <a:solidFill>
                  <a:srgbClr val="263238"/>
                </a:solidFill>
              </a:rPr>
              <a:t> fluctuations</a:t>
            </a:r>
            <a:r>
              <a:rPr sz="1400" dirty="0"/>
              <a:t>
</a:t>
            </a:r>
            <a:r>
              <a:rPr sz="1400" b="0" dirty="0">
                <a:solidFill>
                  <a:srgbClr val="263238"/>
                </a:solidFill>
              </a:rPr>
              <a:t> • Non-linear I-V characteristics</a:t>
            </a:r>
            <a:r>
              <a:rPr sz="1400" dirty="0"/>
              <a:t>
</a:t>
            </a:r>
            <a:r>
              <a:rPr sz="1400" b="0" dirty="0">
                <a:solidFill>
                  <a:srgbClr val="263238"/>
                </a:solidFill>
              </a:rPr>
              <a:t> • Partial </a:t>
            </a:r>
            <a:r>
              <a:rPr sz="1400" b="1" dirty="0">
                <a:solidFill>
                  <a:srgbClr val="263238"/>
                </a:solidFill>
              </a:rPr>
              <a:t>shading</a:t>
            </a:r>
            <a:r>
              <a:rPr sz="1400" b="0" dirty="0">
                <a:solidFill>
                  <a:srgbClr val="263238"/>
                </a:solidFill>
              </a:rPr>
              <a:t> effects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2540" y="2390774"/>
            <a:ext cx="4886202" cy="284797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0238" y="322487"/>
            <a:ext cx="21161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>
          <a:xfrm>
            <a:off x="9880600" y="63595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298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48280"/>
            <a:ext cx="3560398" cy="5416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800" b="1" dirty="0">
                <a:solidFill>
                  <a:srgbClr val="0D47A1"/>
                </a:solidFill>
              </a:rPr>
              <a:t>Single-Diode PV Model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409285"/>
            <a:ext cx="266693" cy="191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674" y="1306288"/>
            <a:ext cx="1817101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47A1"/>
                </a:solidFill>
              </a:rPr>
              <a:t>Equivalent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1743075"/>
            <a:ext cx="5067173" cy="11430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263238"/>
                </a:solidFill>
              </a:rPr>
              <a:t> • Current source (</a:t>
            </a:r>
            <a:r>
              <a:rPr sz="1400" b="0" dirty="0" err="1">
                <a:solidFill>
                  <a:srgbClr val="263238"/>
                </a:solidFill>
              </a:rPr>
              <a:t>Iph</a:t>
            </a:r>
            <a:r>
              <a:rPr sz="1400" b="0" dirty="0">
                <a:solidFill>
                  <a:srgbClr val="263238"/>
                </a:solidFill>
              </a:rPr>
              <a:t>) for photocurrent</a:t>
            </a:r>
            <a:r>
              <a:rPr sz="1400" dirty="0"/>
              <a:t>
</a:t>
            </a:r>
            <a:r>
              <a:rPr sz="1400" b="0" dirty="0">
                <a:solidFill>
                  <a:srgbClr val="263238"/>
                </a:solidFill>
              </a:rPr>
              <a:t> • Diode representing p-n junction</a:t>
            </a:r>
            <a:r>
              <a:rPr sz="1400" dirty="0"/>
              <a:t>
</a:t>
            </a:r>
            <a:r>
              <a:rPr sz="1400" b="0" dirty="0">
                <a:solidFill>
                  <a:srgbClr val="263238"/>
                </a:solidFill>
              </a:rPr>
              <a:t> • Series resistance (</a:t>
            </a:r>
            <a:r>
              <a:rPr sz="1400" b="0" dirty="0" err="1">
                <a:solidFill>
                  <a:srgbClr val="263238"/>
                </a:solidFill>
              </a:rPr>
              <a:t>Rs</a:t>
            </a:r>
            <a:r>
              <a:rPr sz="1400" b="0" dirty="0">
                <a:solidFill>
                  <a:srgbClr val="263238"/>
                </a:solidFill>
              </a:rPr>
              <a:t>)</a:t>
            </a:r>
            <a:r>
              <a:rPr sz="1400" dirty="0"/>
              <a:t>
</a:t>
            </a:r>
            <a:r>
              <a:rPr sz="1400" b="0" dirty="0">
                <a:solidFill>
                  <a:srgbClr val="263238"/>
                </a:solidFill>
              </a:rPr>
              <a:t> • Shunt resistance (</a:t>
            </a:r>
            <a:r>
              <a:rPr sz="1400" b="0" dirty="0" err="1">
                <a:solidFill>
                  <a:srgbClr val="263238"/>
                </a:solidFill>
              </a:rPr>
              <a:t>Rsh</a:t>
            </a:r>
            <a:r>
              <a:rPr sz="1400" b="0" dirty="0">
                <a:solidFill>
                  <a:srgbClr val="263238"/>
                </a:solidFill>
              </a:rPr>
              <a:t>)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3180935"/>
            <a:ext cx="266693" cy="19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3077939"/>
            <a:ext cx="2153923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47A1"/>
                </a:solidFill>
              </a:rPr>
              <a:t>Mathematical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674" y="3696333"/>
            <a:ext cx="5067173" cy="3416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650"/>
              </a:spcBef>
              <a:spcAft>
                <a:spcPts val="650"/>
              </a:spcAft>
            </a:pPr>
            <a:r>
              <a:rPr sz="1200" b="0">
                <a:solidFill>
                  <a:srgbClr val="263238"/>
                </a:solidFill>
              </a:rPr>
              <a:t>I = Iph - I0[exp(q(V+IRs)/(AkT)) - 1] - (V+IRs)/Rsh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733" y="4592292"/>
            <a:ext cx="266693" cy="226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8674" y="4506688"/>
            <a:ext cx="1633076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D47A1"/>
                </a:solidFill>
              </a:rPr>
              <a:t>Key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674" y="4902710"/>
            <a:ext cx="1891543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57C00"/>
                </a:solidFill>
              </a:rPr>
              <a:t>Isc</a:t>
            </a:r>
            <a:r>
              <a:rPr sz="1400" b="0">
                <a:solidFill>
                  <a:srgbClr val="263238"/>
                </a:solidFill>
              </a:rPr>
              <a:t>: Short circuit current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4597" y="4902710"/>
            <a:ext cx="1966885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57C00"/>
                </a:solidFill>
              </a:rPr>
              <a:t>Voc</a:t>
            </a:r>
            <a:r>
              <a:rPr sz="1400" b="0">
                <a:solidFill>
                  <a:srgbClr val="263238"/>
                </a:solidFill>
              </a:rPr>
              <a:t>: Open circuit voltage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674" y="5264660"/>
            <a:ext cx="2122569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57C00"/>
                </a:solidFill>
              </a:rPr>
              <a:t>Imp</a:t>
            </a:r>
            <a:r>
              <a:rPr sz="1400" b="0">
                <a:solidFill>
                  <a:srgbClr val="263238"/>
                </a:solidFill>
              </a:rPr>
              <a:t>: Current at max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3666" y="5264660"/>
            <a:ext cx="2168029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57C00"/>
                </a:solidFill>
              </a:rPr>
              <a:t>Vmp</a:t>
            </a:r>
            <a:r>
              <a:rPr sz="1400" b="0">
                <a:solidFill>
                  <a:srgbClr val="263238"/>
                </a:solidFill>
              </a:rPr>
              <a:t>: Voltage at max 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674" y="5626609"/>
            <a:ext cx="2210798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400" b="0">
                <a:solidFill>
                  <a:srgbClr val="263238"/>
                </a:solidFill>
              </a:rPr>
              <a:t>Ns: Number of cells in series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14" y="5626609"/>
            <a:ext cx="2436308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400" b="0">
                <a:solidFill>
                  <a:srgbClr val="263238"/>
                </a:solidFill>
              </a:rPr>
              <a:t>Ki, Kv: Temperature coefficients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4937" y="2600325"/>
            <a:ext cx="4600459" cy="241934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038" y="348280"/>
            <a:ext cx="21161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Espace réservé du numéro de diapositive 20"/>
          <p:cNvSpPr>
            <a:spLocks noGrp="1"/>
          </p:cNvSpPr>
          <p:nvPr>
            <p:ph type="sldNum" sz="quarter" idx="12"/>
          </p:nvPr>
        </p:nvSpPr>
        <p:spPr>
          <a:xfrm>
            <a:off x="9918700" y="64230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617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79058"/>
            <a:ext cx="4770152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400" b="1">
                <a:solidFill>
                  <a:srgbClr val="0D47A1"/>
                </a:solidFill>
              </a:rPr>
              <a:t>PV_model Function Implementation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0" y="1348060"/>
            <a:ext cx="5267325" cy="405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263" y="2386784"/>
            <a:ext cx="6541755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138" y="315558"/>
            <a:ext cx="21161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Espace réservé du numéro de diapositive 39"/>
          <p:cNvSpPr>
            <a:spLocks noGrp="1"/>
          </p:cNvSpPr>
          <p:nvPr>
            <p:ph type="sldNum" sz="quarter" idx="12"/>
          </p:nvPr>
        </p:nvSpPr>
        <p:spPr>
          <a:xfrm>
            <a:off x="9736138" y="637222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613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286726"/>
            <a:ext cx="7737375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600" b="1" dirty="0">
                <a:solidFill>
                  <a:srgbClr val="0D47A1"/>
                </a:solidFill>
              </a:rPr>
              <a:t>Maximum Power Point Tracking (MPPT)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191039"/>
            <a:ext cx="266693" cy="2087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674" y="1050573"/>
            <a:ext cx="2440925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D47A1"/>
                </a:solidFill>
              </a:rPr>
              <a:t>MPPT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674" y="1522030"/>
            <a:ext cx="5067173" cy="88024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263238"/>
                </a:solidFill>
              </a:rPr>
              <a:t> • Extracts </a:t>
            </a:r>
            <a:r>
              <a:rPr b="1" dirty="0">
                <a:solidFill>
                  <a:srgbClr val="F57C00"/>
                </a:solidFill>
              </a:rPr>
              <a:t>maximum power</a:t>
            </a:r>
            <a:r>
              <a:rPr b="0" dirty="0">
                <a:solidFill>
                  <a:srgbClr val="263238"/>
                </a:solidFill>
              </a:rPr>
              <a:t> from PV modules</a:t>
            </a:r>
            <a:r>
              <a:rPr dirty="0"/>
              <a:t>
</a:t>
            </a:r>
            <a:r>
              <a:rPr b="0" dirty="0">
                <a:solidFill>
                  <a:srgbClr val="263238"/>
                </a:solidFill>
              </a:rPr>
              <a:t> • Adapts to changing environmental conditions</a:t>
            </a:r>
            <a:r>
              <a:rPr dirty="0"/>
              <a:t>
</a:t>
            </a:r>
            <a:r>
              <a:rPr b="0" dirty="0">
                <a:solidFill>
                  <a:srgbClr val="263238"/>
                </a:solidFill>
              </a:rPr>
              <a:t> • Increases system efficiency by 20-30%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2668242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8674" y="2536473"/>
            <a:ext cx="3616375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D47A1"/>
                </a:solidFill>
              </a:rPr>
              <a:t>Common MPPT Techniques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30810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14417" y="2978659"/>
            <a:ext cx="2569742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263238"/>
                </a:solidFill>
              </a:rPr>
              <a:t>Perturb &amp; Observe (P&amp;O)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34430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3340610"/>
            <a:ext cx="2930995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263238"/>
                </a:solidFill>
              </a:rPr>
              <a:t>Incremental Conductance (IC)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38049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14417" y="3702560"/>
            <a:ext cx="1938416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263238"/>
                </a:solidFill>
              </a:rPr>
              <a:t>Fuzzy Logic Control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674" y="416690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14417" y="4064509"/>
            <a:ext cx="1722908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263238"/>
                </a:solidFill>
              </a:rPr>
              <a:t>Neural Networks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" y="4762085"/>
            <a:ext cx="266693" cy="191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8674" y="4612923"/>
            <a:ext cx="3877921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D47A1"/>
                </a:solidFill>
              </a:rPr>
              <a:t>Perturb &amp; Observe Algorithm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674" y="509587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1028674" y="5071232"/>
            <a:ext cx="22628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664" y="5055109"/>
            <a:ext cx="3739935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263238"/>
                </a:solidFill>
              </a:rPr>
              <a:t>Measure PV voltage (V) and current (I)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8674" y="54768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TextBox 21"/>
          <p:cNvSpPr txBox="1"/>
          <p:nvPr/>
        </p:nvSpPr>
        <p:spPr>
          <a:xfrm>
            <a:off x="1028674" y="5452233"/>
            <a:ext cx="22628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664" y="5436110"/>
            <a:ext cx="2603983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263238"/>
                </a:solidFill>
              </a:rPr>
              <a:t>Calculate power (P = V × 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8674" y="5857875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1028674" y="5833233"/>
            <a:ext cx="22628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9664" y="5817110"/>
            <a:ext cx="3537379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263238"/>
                </a:solidFill>
              </a:rPr>
              <a:t>Compare with previous power value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674" y="6238874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8" name="TextBox 27"/>
          <p:cNvSpPr txBox="1"/>
          <p:nvPr/>
        </p:nvSpPr>
        <p:spPr>
          <a:xfrm>
            <a:off x="1028674" y="6214232"/>
            <a:ext cx="22628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9664" y="6198109"/>
            <a:ext cx="4721805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263238"/>
                </a:solidFill>
              </a:rPr>
              <a:t>Adjust voltage reference based on power change</a:t>
            </a:r>
          </a:p>
        </p:txBody>
      </p:sp>
      <p:sp>
        <p:nvSpPr>
          <p:cNvPr id="32" name="AutoShape 2" descr="blob:https://web.whatsapp.com/7c303b55-ac9e-4c4c-ac71-d5107434877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2400"/>
          </a:p>
        </p:txBody>
      </p:sp>
      <p:sp>
        <p:nvSpPr>
          <p:cNvPr id="33" name="AutoShape 4" descr="blob:https://web.whatsapp.com/7c303b55-ac9e-4c4c-ac71-d51074348772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2400"/>
          </a:p>
        </p:txBody>
      </p:sp>
      <p:sp>
        <p:nvSpPr>
          <p:cNvPr id="34" name="AutoShape 7" descr="blob:https://web.whatsapp.com/7c303b55-ac9e-4c4c-ac71-d51074348772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2400"/>
          </a:p>
        </p:txBody>
      </p:sp>
      <p:sp>
        <p:nvSpPr>
          <p:cNvPr id="35" name="AutoShape 9" descr="blob:https://web.whatsapp.com/7c303b55-ac9e-4c4c-ac71-d51074348772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2400"/>
          </a:p>
        </p:txBody>
      </p:sp>
      <p:sp>
        <p:nvSpPr>
          <p:cNvPr id="36" name="AutoShape 11" descr="blob:https://web.whatsapp.com/7c303b55-ac9e-4c4c-ac71-d51074348772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sz="2400"/>
          </a:p>
        </p:txBody>
      </p:sp>
      <p:pic>
        <p:nvPicPr>
          <p:cNvPr id="2060" name="Picture 1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4" t="3888" r="31432" b="3450"/>
          <a:stretch/>
        </p:blipFill>
        <p:spPr bwMode="auto">
          <a:xfrm>
            <a:off x="5428341" y="1113378"/>
            <a:ext cx="6651003" cy="5011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207" y="212373"/>
            <a:ext cx="21161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Espace réservé du numéro de diapositive 37"/>
          <p:cNvSpPr>
            <a:spLocks noGrp="1"/>
          </p:cNvSpPr>
          <p:nvPr>
            <p:ph type="sldNum" sz="quarter" idx="12"/>
          </p:nvPr>
        </p:nvSpPr>
        <p:spPr>
          <a:xfrm>
            <a:off x="9883715" y="6372223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675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6604" y="664248"/>
            <a:ext cx="6492098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3600" b="1" dirty="0">
                <a:solidFill>
                  <a:srgbClr val="0D47A1"/>
                </a:solidFill>
              </a:rPr>
              <a:t>Real-Time MPPT Implementation</a:t>
            </a:r>
          </a:p>
        </p:txBody>
      </p:sp>
      <p:graphicFrame>
        <p:nvGraphicFramePr>
          <p:cNvPr id="38" name="Tableau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802627"/>
              </p:ext>
            </p:extLst>
          </p:nvPr>
        </p:nvGraphicFramePr>
        <p:xfrm>
          <a:off x="1725057" y="2085219"/>
          <a:ext cx="812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Case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/>
                        <a:t>Δ</a:t>
                      </a:r>
                      <a:r>
                        <a:rPr lang="fr-FR" dirty="0" smtClean="0"/>
                        <a:t>V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/>
                        <a:t>Δ</a:t>
                      </a:r>
                      <a:r>
                        <a:rPr lang="fr-FR" dirty="0" smtClean="0"/>
                        <a:t>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/>
                        <a:t>Δ</a:t>
                      </a:r>
                      <a:r>
                        <a:rPr lang="fr-FR" dirty="0" smtClean="0"/>
                        <a:t>P/</a:t>
                      </a:r>
                      <a:r>
                        <a:rPr lang="el-GR" dirty="0" smtClean="0"/>
                        <a:t>Δ</a:t>
                      </a:r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Voltage Control Action 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Increase</a:t>
                      </a:r>
                      <a:r>
                        <a:rPr lang="fr-FR" dirty="0" smtClean="0"/>
                        <a:t> V by </a:t>
                      </a:r>
                      <a:r>
                        <a:rPr lang="el-GR" dirty="0" smtClean="0"/>
                        <a:t>Δ</a:t>
                      </a:r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-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-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 </a:t>
                      </a:r>
                      <a:r>
                        <a:rPr lang="fr-FR" dirty="0" err="1" smtClean="0"/>
                        <a:t>Increase</a:t>
                      </a:r>
                      <a:r>
                        <a:rPr lang="fr-FR" dirty="0" smtClean="0"/>
                        <a:t> V by </a:t>
                      </a:r>
                      <a:r>
                        <a:rPr lang="el-GR" dirty="0" smtClean="0"/>
                        <a:t>Δ</a:t>
                      </a:r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-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-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 smtClean="0"/>
                        <a:t>Decrease</a:t>
                      </a:r>
                      <a:r>
                        <a:rPr lang="fr-FR" dirty="0" smtClean="0"/>
                        <a:t> V by </a:t>
                      </a:r>
                      <a:r>
                        <a:rPr lang="el-GR" dirty="0" smtClean="0"/>
                        <a:t>Δ</a:t>
                      </a:r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-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-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 smtClean="0"/>
                        <a:t>Decrease</a:t>
                      </a:r>
                      <a:r>
                        <a:rPr lang="fr-FR" dirty="0" smtClean="0"/>
                        <a:t> V by </a:t>
                      </a:r>
                      <a:r>
                        <a:rPr lang="el-GR" dirty="0" smtClean="0"/>
                        <a:t>Δ</a:t>
                      </a:r>
                      <a:r>
                        <a:rPr lang="fr-FR" dirty="0" smtClean="0"/>
                        <a:t>V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057" y="158446"/>
            <a:ext cx="2116137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Espace réservé du numéro de diapositive 39"/>
          <p:cNvSpPr>
            <a:spLocks noGrp="1"/>
          </p:cNvSpPr>
          <p:nvPr>
            <p:ph type="sldNum" sz="quarter" idx="12"/>
          </p:nvPr>
        </p:nvSpPr>
        <p:spPr>
          <a:xfrm>
            <a:off x="97409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39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35889" y="5648999"/>
            <a:ext cx="266693" cy="226115"/>
          </a:xfrm>
          <a:prstGeom prst="rect">
            <a:avLst/>
          </a:prstGeom>
        </p:spPr>
      </p:pic>
      <p:sp>
        <p:nvSpPr>
          <p:cNvPr id="4" name="Rounded Rectangle 25"/>
          <p:cNvSpPr/>
          <p:nvPr/>
        </p:nvSpPr>
        <p:spPr>
          <a:xfrm>
            <a:off x="6897830" y="6000181"/>
            <a:ext cx="723881" cy="380999"/>
          </a:xfrm>
          <a:prstGeom prst="roundRect">
            <a:avLst>
              <a:gd name="adj" fmla="val 20000"/>
            </a:avLst>
          </a:prstGeom>
          <a:solidFill>
            <a:srgbClr val="1976D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TextBox 26"/>
          <p:cNvSpPr txBox="1"/>
          <p:nvPr/>
        </p:nvSpPr>
        <p:spPr>
          <a:xfrm>
            <a:off x="6897830" y="6007040"/>
            <a:ext cx="785728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b="1">
                <a:solidFill>
                  <a:srgbClr val="263238"/>
                </a:solidFill>
              </a:rPr>
              <a:t>C = 0.5</a:t>
            </a:r>
          </a:p>
        </p:txBody>
      </p:sp>
      <p:sp>
        <p:nvSpPr>
          <p:cNvPr id="6" name="Rounded Rectangle 27"/>
          <p:cNvSpPr/>
          <p:nvPr/>
        </p:nvSpPr>
        <p:spPr>
          <a:xfrm>
            <a:off x="7755058" y="6000181"/>
            <a:ext cx="1038199" cy="380999"/>
          </a:xfrm>
          <a:prstGeom prst="roundRect">
            <a:avLst>
              <a:gd name="adj" fmla="val 20000"/>
            </a:avLst>
          </a:prstGeom>
          <a:solidFill>
            <a:srgbClr val="1976D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28"/>
          <p:cNvSpPr txBox="1"/>
          <p:nvPr/>
        </p:nvSpPr>
        <p:spPr>
          <a:xfrm>
            <a:off x="7755058" y="6007040"/>
            <a:ext cx="1135375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b="1">
                <a:solidFill>
                  <a:srgbClr val="263238"/>
                </a:solidFill>
              </a:rPr>
              <a:t>TaC = 25°C</a:t>
            </a:r>
          </a:p>
        </p:txBody>
      </p:sp>
      <p:sp>
        <p:nvSpPr>
          <p:cNvPr id="8" name="Rounded Rectangle 29"/>
          <p:cNvSpPr/>
          <p:nvPr/>
        </p:nvSpPr>
        <p:spPr>
          <a:xfrm>
            <a:off x="8917079" y="6000181"/>
            <a:ext cx="857228" cy="380999"/>
          </a:xfrm>
          <a:prstGeom prst="roundRect">
            <a:avLst>
              <a:gd name="adj" fmla="val 20000"/>
            </a:avLst>
          </a:prstGeom>
          <a:solidFill>
            <a:srgbClr val="1976D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30"/>
          <p:cNvSpPr txBox="1"/>
          <p:nvPr/>
        </p:nvSpPr>
        <p:spPr>
          <a:xfrm>
            <a:off x="8917079" y="6007040"/>
            <a:ext cx="976549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b="1">
                <a:solidFill>
                  <a:srgbClr val="263238"/>
                </a:solidFill>
              </a:rPr>
              <a:t>Va = 31V</a:t>
            </a:r>
          </a:p>
        </p:txBody>
      </p:sp>
      <p:sp>
        <p:nvSpPr>
          <p:cNvPr id="10" name="Rounded Rectangle 31"/>
          <p:cNvSpPr/>
          <p:nvPr/>
        </p:nvSpPr>
        <p:spPr>
          <a:xfrm>
            <a:off x="9907655" y="6000181"/>
            <a:ext cx="1133446" cy="380999"/>
          </a:xfrm>
          <a:prstGeom prst="roundRect">
            <a:avLst>
              <a:gd name="adj" fmla="val 20000"/>
            </a:avLst>
          </a:prstGeom>
          <a:solidFill>
            <a:srgbClr val="1976D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32"/>
          <p:cNvSpPr txBox="1"/>
          <p:nvPr/>
        </p:nvSpPr>
        <p:spPr>
          <a:xfrm>
            <a:off x="9907655" y="6007040"/>
            <a:ext cx="1276247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b="1">
                <a:solidFill>
                  <a:srgbClr val="263238"/>
                </a:solidFill>
              </a:rPr>
              <a:t>Rs = 0.001Ω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4288" y="5534419"/>
            <a:ext cx="21703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0D47A1"/>
                </a:solidFill>
              </a:rPr>
              <a:t>Key </a:t>
            </a:r>
            <a:r>
              <a:rPr lang="fr-FR" sz="2400" b="1" dirty="0" err="1">
                <a:solidFill>
                  <a:srgbClr val="0D47A1"/>
                </a:solidFill>
              </a:rPr>
              <a:t>Parameters</a:t>
            </a:r>
            <a:endParaRPr lang="fr-FR" sz="2400" b="1" dirty="0">
              <a:solidFill>
                <a:srgbClr val="0D47A1"/>
              </a:solidFill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16"/>
          <a:stretch/>
        </p:blipFill>
        <p:spPr bwMode="auto">
          <a:xfrm>
            <a:off x="1270001" y="1414464"/>
            <a:ext cx="3810000" cy="2154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712935" y="303350"/>
            <a:ext cx="85907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lang="fr-FR" sz="3600" b="1" dirty="0" err="1">
                <a:solidFill>
                  <a:srgbClr val="0D47A1"/>
                </a:solidFill>
              </a:rPr>
              <a:t>Results</a:t>
            </a:r>
            <a:r>
              <a:rPr lang="fr-FR" sz="3600" b="1" dirty="0">
                <a:solidFill>
                  <a:srgbClr val="0D47A1"/>
                </a:solidFill>
              </a:rPr>
              <a:t> and </a:t>
            </a:r>
            <a:r>
              <a:rPr lang="fr-FR" sz="3600" b="1" dirty="0" err="1">
                <a:solidFill>
                  <a:srgbClr val="0D47A1"/>
                </a:solidFill>
              </a:rPr>
              <a:t>Analysis</a:t>
            </a:r>
            <a:endParaRPr lang="fr-FR" sz="3600" b="1" dirty="0">
              <a:solidFill>
                <a:srgbClr val="0D47A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1" y="3762135"/>
            <a:ext cx="3810000" cy="2428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393" y="1414463"/>
            <a:ext cx="5124450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>
          <a:xfrm>
            <a:off x="9666355" y="640023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800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303</Words>
  <Application>Microsoft Office PowerPoint</Application>
  <PresentationFormat>Personnalisé</PresentationFormat>
  <Paragraphs>90</Paragraphs>
  <Slides>8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Office Theme</vt:lpstr>
      <vt:lpstr>Real-Time Maximum Power Point Tracking (MPPT) of a Photovoltaic System Using Perturb &amp; Observe Algorithm </vt:lpstr>
      <vt:lpstr>Table of Content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2025-12-02T09:38:31Z</dcterms:modified>
  <cp:category/>
</cp:coreProperties>
</file>